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48" r:id="rId2"/>
    <p:sldId id="257" r:id="rId3"/>
    <p:sldId id="258" r:id="rId4"/>
    <p:sldId id="283" r:id="rId5"/>
    <p:sldId id="390" r:id="rId6"/>
    <p:sldId id="350" r:id="rId7"/>
    <p:sldId id="355" r:id="rId8"/>
    <p:sldId id="422" r:id="rId9"/>
    <p:sldId id="417" r:id="rId10"/>
    <p:sldId id="419" r:id="rId11"/>
    <p:sldId id="418" r:id="rId12"/>
    <p:sldId id="402" r:id="rId13"/>
    <p:sldId id="421" r:id="rId14"/>
    <p:sldId id="408" r:id="rId15"/>
    <p:sldId id="412" r:id="rId16"/>
    <p:sldId id="420" r:id="rId17"/>
    <p:sldId id="409" r:id="rId18"/>
    <p:sldId id="410" r:id="rId19"/>
    <p:sldId id="413" r:id="rId20"/>
    <p:sldId id="414" r:id="rId21"/>
    <p:sldId id="411" r:id="rId22"/>
    <p:sldId id="415" r:id="rId23"/>
    <p:sldId id="380" r:id="rId24"/>
    <p:sldId id="322" r:id="rId25"/>
    <p:sldId id="403" r:id="rId26"/>
    <p:sldId id="32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303"/>
    <a:srgbClr val="899701"/>
    <a:srgbClr val="FFE4EB"/>
    <a:srgbClr val="FBFFE4"/>
    <a:srgbClr val="DFF4FC"/>
    <a:srgbClr val="C14D29"/>
    <a:srgbClr val="772F19"/>
    <a:srgbClr val="8F096C"/>
    <a:srgbClr val="980098"/>
    <a:srgbClr val="BA0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9" autoAdjust="0"/>
    <p:restoredTop sz="95394" autoAdjust="0"/>
  </p:normalViewPr>
  <p:slideViewPr>
    <p:cSldViewPr>
      <p:cViewPr varScale="1">
        <p:scale>
          <a:sx n="77" d="100"/>
          <a:sy n="77" d="100"/>
        </p:scale>
        <p:origin x="15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20E42A-D9FC-47EE-8900-478CBDC629FC}" type="doc">
      <dgm:prSet loTypeId="urn:microsoft.com/office/officeart/2005/8/layout/list1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BB9CA28A-5FA8-4595-B0CA-BE8246B0F16C}" type="pres">
      <dgm:prSet presAssocID="{3B20E42A-D9FC-47EE-8900-478CBDC629FC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8CAF70A6-4EAC-4A5E-9CDF-9950B16B4FA7}" type="presOf" srcId="{3B20E42A-D9FC-47EE-8900-478CBDC629FC}" destId="{BB9CA28A-5FA8-4595-B0CA-BE8246B0F16C}" srcOrd="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CBFEA6C-DAAD-4E22-B568-BCDA032DB0FB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ABD31CF1-2C47-418A-ACF2-148026AABEB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D31CF1-2C47-418A-ACF2-148026AABEB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1227B7-250F-401A-95C3-D5BDADA846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AFE145-ED9B-4B08-B025-07C1008AB20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B1F41-E8EA-4B90-BE85-19C4DE8D44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9ABA79-478A-404D-99B5-99195D9880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5BF30C-8BA7-4D76-8088-9C7E4A500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166F9-F2DC-4D4F-9997-A2E509843F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F2AA55-01D9-4BEB-8817-DF497CDB6F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328C0F-E443-4F2A-ADCD-5E88BC85CD7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B604B-9F90-4172-AA66-56CDDB9BD1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E14C4-0BAF-4188-B75E-6040AF0EBE9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FF7A804-A991-4F4D-B99F-34F25686AA6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14218"/>
            <a:ext cx="1596675" cy="7660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6" descr="C:\Users\parul\Desktop\temp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81734" y="1995490"/>
            <a:ext cx="7403465" cy="55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CA" altLang="en-IN" sz="2600" b="1" dirty="0">
                <a:solidFill>
                  <a:srgbClr val="000000"/>
                </a:solidFill>
                <a:cs typeface="Calibri" panose="020F0502020204030204" pitchFamily="34" charset="0"/>
              </a:rPr>
              <a:t>AI INTEGRATED LIBRARY MANAGEMENT SYSTEM</a:t>
            </a:r>
          </a:p>
        </p:txBody>
      </p:sp>
      <p:pic>
        <p:nvPicPr>
          <p:cNvPr id="5125" name="Picture 2" descr="C:\Users\parul\Desktop\Registered Logosd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774454"/>
            <a:ext cx="3024336" cy="76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6" name="Group 26"/>
          <p:cNvGrpSpPr/>
          <p:nvPr/>
        </p:nvGrpSpPr>
        <p:grpSpPr bwMode="auto">
          <a:xfrm>
            <a:off x="1711007" y="2514600"/>
            <a:ext cx="6308725" cy="93663"/>
            <a:chOff x="1428728" y="2571744"/>
            <a:chExt cx="6309404" cy="94298"/>
          </a:xfrm>
        </p:grpSpPr>
        <p:sp>
          <p:nvSpPr>
            <p:cNvPr id="5130" name="Straight Connector 8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428728" y="2618094"/>
              <a:ext cx="6287177" cy="159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31" name="Oval 2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 flipV="1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2" name="Oval 2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flipH="1" flipV="1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127" name="Audio 2">
            <a:hlinkClick r:id="" action="ppaction://media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958E4F-9846-4F25-B454-598653F66ED7}" type="slidenum">
              <a:rPr lang="en-US" altLang="en-US"/>
              <a:t>1</a:t>
            </a:fld>
            <a:endParaRPr lang="en-US" altLang="en-US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200" y="62992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365760" y="2697480"/>
            <a:ext cx="4572000" cy="15234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13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 By:</a:t>
            </a:r>
          </a:p>
          <a:p>
            <a:pPr algn="just">
              <a:defRPr/>
            </a:pPr>
            <a:r>
              <a:rPr lang="en-CA" altLang="en-US" sz="13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Priyanshu Solanki : 2403031057129</a:t>
            </a:r>
          </a:p>
          <a:p>
            <a:pPr algn="just">
              <a:defRPr/>
            </a:pPr>
            <a:r>
              <a:rPr lang="en-CA" altLang="en-US" sz="13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Yatharth Chavda : 2303031050529</a:t>
            </a:r>
          </a:p>
          <a:p>
            <a:pPr algn="just">
              <a:defRPr/>
            </a:pPr>
            <a:r>
              <a:rPr lang="en-CA" altLang="en-US" sz="13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Abhishekh Dalvi : 2303031050793</a:t>
            </a:r>
          </a:p>
          <a:p>
            <a:pPr algn="just">
              <a:defRPr/>
            </a:pPr>
            <a:r>
              <a:rPr lang="en-CA" altLang="en-US" sz="13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Meeth </a:t>
            </a:r>
            <a:r>
              <a:rPr lang="en-CA" altLang="en-US" sz="1300" dirty="0" err="1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Satadiya</a:t>
            </a:r>
            <a:r>
              <a:rPr lang="en-CA" altLang="en-US" sz="13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: 2303031050529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7"/>
          <p:cNvSpPr txBox="1">
            <a:spLocks noChangeArrowheads="1"/>
          </p:cNvSpPr>
          <p:nvPr/>
        </p:nvSpPr>
        <p:spPr bwMode="auto">
          <a:xfrm>
            <a:off x="5120640" y="2697480"/>
            <a:ext cx="3291840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500" b="1" dirty="0">
                <a:solidFill>
                  <a:srgbClr val="002060"/>
                </a:solidFill>
                <a:latin typeface="Gabriola" panose="04040605051002020D02" pitchFamily="82" charset="0"/>
              </a:rPr>
              <a:t>    Supervised by:</a:t>
            </a:r>
            <a:endParaRPr lang="en-US" sz="2000" b="1" dirty="0">
              <a:solidFill>
                <a:srgbClr val="002060"/>
              </a:solidFill>
              <a:latin typeface="Gabriola" panose="04040605051002020D02" pitchFamily="82" charset="0"/>
            </a:endParaRPr>
          </a:p>
          <a:p>
            <a:pPr>
              <a:defRPr/>
            </a:pPr>
            <a:r>
              <a:rPr 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Verdana" panose="020B0604030504040204" pitchFamily="34" charset="0"/>
                <a:cs typeface="Times New Roman" panose="02020603050405020304" pitchFamily="18" charset="0"/>
              </a:rPr>
              <a:t>    Prof: Vikas Dubey Sir.</a:t>
            </a:r>
          </a:p>
        </p:txBody>
      </p:sp>
    </p:spTree>
  </p:cSld>
  <p:clrMapOvr>
    <a:masterClrMapping/>
  </p:clrMapOvr>
  <p:transition spd="slow" advTm="959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611304" y="1052736"/>
            <a:ext cx="5184576" cy="72547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3555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755650" y="1844675"/>
            <a:ext cx="8334868" cy="4804410"/>
          </a:xfrm>
        </p:spPr>
        <p:txBody>
          <a:bodyPr vert="horz" lIns="45720" tIns="45720" rIns="45720" bIns="45720" rtlCol="0" anchor="t">
            <a:normAutofit fontScale="8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Objectives of Project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Literature Survey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Research Gap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/>
                <a:cs typeface="Calibri" panose="020F0502020204030204"/>
              </a:rPr>
              <a:t>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/>
                <a:cs typeface="Calibri" panose="020F0502020204030204"/>
              </a:rPr>
              <a:t> Tools and Technology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Core Algorithms (Search &amp; Recommendation)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Data Set / Schema Description</a:t>
            </a:r>
            <a:endParaRPr lang="en-GB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 System Architecture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 Implementation with Results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 Role-Based Access Control &amp; Verification</a:t>
            </a:r>
            <a:endParaRPr lang="en-IN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t> Conclusion &amp; Future Work</a:t>
            </a:r>
            <a:endParaRPr lang="en-IN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t> References</a:t>
            </a:r>
            <a:endParaRPr lang="en-I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9496" y="692531"/>
            <a:ext cx="7290054" cy="1499616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Introduction</a:t>
            </a:r>
          </a:p>
        </p:txBody>
      </p:sp>
      <p:sp>
        <p:nvSpPr>
          <p:cNvPr id="17" name="Content Placeholder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sz="3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3</a:t>
            </a:fld>
            <a:endParaRPr lang="en-US" dirty="0"/>
          </a:p>
        </p:txBody>
      </p:sp>
      <p:sp>
        <p:nvSpPr>
          <p:cNvPr id="18" name="Title 1"/>
          <p:cNvSpPr txBox="1"/>
          <p:nvPr/>
        </p:nvSpPr>
        <p:spPr>
          <a:xfrm>
            <a:off x="1188084" y="548928"/>
            <a:ext cx="6347713" cy="949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7242" y="1921654"/>
            <a:ext cx="8321008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/>
              <a:buChar char="•"/>
            </a:pPr>
            <a:r>
              <a:rPr lang="en-US" sz="2000" dirty="0">
                <a:latin typeface="Calibri" panose="020F0502020204030204"/>
                <a:cs typeface="Calibri" panose="020F0502020204030204" pitchFamily="34" charset="0"/>
              </a:rPr>
              <a:t>University libraries have historically relied on legacy OPAC systems that catalogue books using static keyword indexing, offering no semantic search capability and no personalized guidance for readers.</a:t>
            </a:r>
          </a:p>
          <a:p>
            <a:pPr marL="342900" indent="-342900" algn="just">
              <a:buFont typeface="Arial" panose="020B0604020202020204"/>
              <a:buChar char="•"/>
            </a:pPr>
            <a:endParaRPr lang="en-US" sz="2000" dirty="0">
              <a:latin typeface="Calibri" panose="020F0502020204030204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US" sz="2000" dirty="0">
                <a:latin typeface="Calibri" panose="020F0502020204030204"/>
                <a:cs typeface="Calibri" panose="020F0502020204030204" pitchFamily="34" charset="0"/>
              </a:rPr>
              <a:t>Manual spreadsheet updates, physical logs, and overnight batch jobs are still commonly used to track transactions, due dates, and overdue fines — creating administrative overhead and delays in fine enforcement.</a:t>
            </a:r>
          </a:p>
          <a:p>
            <a:pPr marL="342900" indent="-342900" algn="just">
              <a:buFont typeface="Arial" panose="020B0604020202020204"/>
              <a:buChar char="•"/>
            </a:pPr>
            <a:endParaRPr lang="en-US" sz="2000" dirty="0">
              <a:latin typeface="Calibri" panose="020F0502020204030204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US" sz="2000" dirty="0">
                <a:latin typeface="Calibri" panose="020F0502020204030204"/>
                <a:cs typeface="Calibri" panose="020F0502020204030204" pitchFamily="34" charset="0"/>
              </a:rPr>
              <a:t>AI-Lib addresses this gap with a decoupled, role-based library management platform: a Flask + SQLAlchemy backend exposing REST APIs, paired with an NLP-based semantic search engine, a genre-affinity recommendation module, and real-time (not batch) fine 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Title 1"/>
          <p:cNvSpPr txBox="1"/>
          <p:nvPr/>
        </p:nvSpPr>
        <p:spPr>
          <a:xfrm>
            <a:off x="609600" y="980440"/>
            <a:ext cx="6951980" cy="949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alibri" panose="020F0502020204030204"/>
                <a:cs typeface="Calibri" panose="020F0502020204030204"/>
              </a:rPr>
              <a:t>Objectives of PROJECT Work</a:t>
            </a:r>
            <a:endParaRPr lang="en-US" altLang="en-IN" sz="3600" baseline="30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2271" y="2348880"/>
            <a:ext cx="77241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+mn-lt"/>
                <a:cs typeface="Calibri" panose="020F0502020204030204" pitchFamily="34" charset="0"/>
                <a:sym typeface="+mn-ea"/>
              </a:rPr>
              <a:t>Build a role-based library management platform (Admin, Librarian, Student) that replaces manual/legacy workflows with a live client-server system.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+mn-lt"/>
                <a:cs typeface="Calibri" panose="020F0502020204030204" pitchFamily="34" charset="0"/>
                <a:sym typeface="+mn-ea"/>
              </a:rPr>
              <a:t>Implement an NLP-based semantic search engine so students can find relevant books even with vague, natural-language queries.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+mn-lt"/>
              <a:cs typeface="Calibri" panose="020F0502020204030204" pitchFamily="3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+mn-lt"/>
                <a:cs typeface="Calibri" panose="020F0502020204030204" pitchFamily="34" charset="0"/>
                <a:sym typeface="+mn-ea"/>
              </a:rPr>
              <a:t>Implement an adaptive recommendation engine that personalizes suggestions using each student's borrowing history and genre affinity.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+mn-lt"/>
                <a:cs typeface="Calibri" panose="020F0502020204030204" pitchFamily="34" charset="0"/>
                <a:sym typeface="+mn-ea"/>
              </a:rPr>
              <a:t>Automate fine computation in real time at return time, rather than through nightly batch reconciliation.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45085"/>
            <a:ext cx="4896346" cy="43158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Literature 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  <a:r>
              <a:rPr lang="en-US" sz="3200" dirty="0"/>
              <a:t>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12738" y="1988840"/>
          <a:ext cx="7615262" cy="533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5605" y="404664"/>
          <a:ext cx="8420735" cy="63403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4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1658">
                <a:tc>
                  <a:txBody>
                    <a:bodyPr/>
                    <a:lstStyle/>
                    <a:p>
                      <a:r>
                        <a:rPr lang="en-IN" sz="1100" dirty="0"/>
                        <a:t>S</a:t>
                      </a:r>
                      <a:r>
                        <a:rPr lang="en-CA" altLang="en-IN" sz="1100" dirty="0"/>
                        <a:t>r</a:t>
                      </a:r>
                      <a:r>
                        <a:rPr lang="en-IN" sz="1100" dirty="0"/>
                        <a:t>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Journal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100" dirty="0"/>
                        <a:t>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077">
                <a:tc>
                  <a:txBody>
                    <a:bodyPr/>
                    <a:lstStyle/>
                    <a:p>
                      <a:r>
                        <a:rPr lang="en-IN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Hybrid Semantic Indexing Model for Catalog Classification and User-Tag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J. Library &amp; Info. Sci. Research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Hybrid keyword + tag-based 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Improved retrieval rate but suffered index fragmentation on nested search patterns.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2767">
                <a:tc>
                  <a:txBody>
                    <a:bodyPr/>
                    <a:lstStyle/>
                    <a:p>
                      <a:r>
                        <a:rPr lang="en-IN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Collaborative Filtering Recommendation Networks from Historical Student Checkout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IRJ Modernization Engg.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Collaborative filtering on checkout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Struggled with the 'cold-start' problem for new students or newly added books.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2767">
                <a:tc>
                  <a:txBody>
                    <a:bodyPr/>
                    <a:lstStyle/>
                    <a:p>
                      <a:r>
                        <a:rPr lang="en-IN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Decoupled RESTful API Transaction Loops for High-Concurrency Library Inventory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J. Web Engg. &amp; Software Arch.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RESTful decoupled API, client-side caching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Lowered database lock conditions but required heavy client-side caching for fluid transitions.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046">
                <a:tc>
                  <a:txBody>
                    <a:bodyPr/>
                    <a:lstStyle/>
                    <a:p>
                      <a:r>
                        <a:rPr lang="en-IN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TF-IDF Weighted Retrieval Layers for Legacy OPAC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J. Info. Retrieval Systems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TF-IDF weighted scoring layer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Retrieval precision improved substantially for multi-word queries over legacy OPAC forms.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3046">
                <a:tc>
                  <a:txBody>
                    <a:bodyPr/>
                    <a:lstStyle/>
                    <a:p>
                      <a:r>
                        <a:rPr lang="en-IN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Real-Time versus Batch Reconciliation for Automated Fine and Penalty Systems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J. Financial Software Engg.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Event-driven real-time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en-IN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Eliminated nightly grace-period exploits by calculating overdue penalties at return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80728"/>
            <a:ext cx="6347713" cy="949672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Research Gap</a:t>
            </a:r>
            <a:endParaRPr lang="en-IN" altLang="en-IN" sz="3600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2143116"/>
            <a:ext cx="7290055" cy="28700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Contextual Search Limitations: Most entry-level library platforms rely on direct SQL LIKE queries and fail on natural-language, multi-word search intent.</a:t>
            </a: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Rule-Based Fine Bottlenecks: Fine calculations are typically batched overnight, letting overdue returns slip through before the batch job executes.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Static Recommendations: Typical systems recommend items using hardcoded category tags or global trends, ignoring a student's current academic focus.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80728"/>
            <a:ext cx="6347713" cy="94967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132732"/>
            <a:ext cx="7806631" cy="4023360"/>
          </a:xfrm>
        </p:spPr>
        <p:txBody>
          <a:bodyPr vert="horz" lIns="45720" tIns="45720" rIns="45720" bIns="45720" rtlCol="0" anchor="t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Legacy catalogue systems cannot interpret natural-language search intent, cannot personalize recommendations to an individual reader's history, and cannot enforce fines the moment a book becomes overdue.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t>This project designs and implements AI-Lib to solve all three problems together: a token-matching relevance-ranking search engine, a recency-weighted genre-affinity recommender, and an event-driven (real-time) fine engine — all served through a secure, role-based REST API.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183" y="620688"/>
            <a:ext cx="7290054" cy="149961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TOOLS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914035"/>
            <a:ext cx="7290055" cy="453654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Backend: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Python 3, Flask (application factory + Blueprints)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SQLAlchemy ORM, SQLite (default) / MySQL (configurable), JWT auth + bcrypt password hashing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Frontend: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Semantic HTML5, Vanilla CSS3 (design tokens, glassmorphism cards)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JavaScript (Promise-based REST client — api.js)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Chart.js for analytics visualizations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Fetch API calls carry a Bearer JWT in the Authorization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Core Algorithms: Search &amp; Recommendation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988840"/>
            <a:ext cx="7290055" cy="432052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Semantic Search — Weighted Relevance Ranking: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A query is tokenized (lowercased, stop-words removed). Each candidate book's title, genre, author, and description are compared against the tokens, with fixed field weights: title x4, genre x3, author x2, description x1.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0" dirty="0">
                <a:latin typeface="Calibri" panose="020F0502020204030204" pitchFamily="34" charset="0"/>
                <a:cs typeface="Calibri" panose="020F0502020204030204" pitchFamily="34" charset="0"/>
              </a:rPr>
              <a:t>Each field match contributes weight x (1 + ln(term frequency)), and scores are summed and normalized to a 0-100% relevance score.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Adaptive Recommendation — Genre-Affinity Model: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Each student's past checkouts are grouped by genre, with older checkouts discounted using an exponential recency-decay factor (~70-day half-life).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The genre with the highest decayed weight drives the match score shown for new, unborrowed books in that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90960"/>
            <a:ext cx="7290054" cy="149961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Worked Example: Semantic Search Scoring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99592" y="1628800"/>
            <a:ext cx="7228408" cy="489654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Char char="—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Query: "coding practices"</a:t>
            </a:r>
          </a:p>
          <a:p>
            <a:pPr marL="342900" indent="-342900">
              <a:buFont typeface="+mj-lt"/>
              <a:buChar char="—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Char char="—"/>
            </a:pPr>
            <a:r>
              <a:t>Candidate: "Clean Code" by Robert C. Martin (Genre: Technology)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Char char="—"/>
            </a:pPr>
            <a:r>
              <a:t>Title match: 0 tokens  -&gt;  0 pts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Char char="—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Genre match: 0 tokens  -&gt;  0 pts</a:t>
            </a: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Char char="—"/>
            </a:pPr>
            <a:r>
              <a:t>Description match: "practices", "coding" found  -&gt;  2 x weight 1 = 2 pts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Char char="—"/>
            </a:pPr>
            <a:r>
              <a:t>Result: surfaced and ranked above books with no token overlap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Char char="—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Char char="—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This lets AI-Lib return relevant results even when the query never appears verbatim in the title — the gap identified in the Research Gap section.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340768"/>
            <a:ext cx="7344816" cy="4824536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None/>
            </a:pPr>
            <a:r>
              <a:rPr b="1"/>
              <a:t>Worked Example: Recommendation Match Scoring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  <a:buFont typeface="+mj-lt"/>
              <a:buAutoNum type="arabicPeriod" startAt="4"/>
            </a:pP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b="0"/>
              <a:t>Student: Rahul Sharma (Dept.: Computer Science)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b="0"/>
              <a:t>Recent checkouts: "Clean Code" (Technology), "Introduction to Algorithms" (Technology)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IN" b="0" dirty="0">
                <a:latin typeface="Calibri" panose="020F0502020204030204" pitchFamily="34" charset="0"/>
                <a:cs typeface="Calibri" panose="020F0502020204030204" pitchFamily="34" charset="0"/>
              </a:rPr>
              <a:t>Genre affinity after recency-decay weighting: Technology = 0.82, Fiction = 0.11, Science = 0.07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Recommended next: "The Pragmatic Programmer" (Technology, not yet borrowed)  -&gt;  displayed match score ~ 82%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41" y="764921"/>
            <a:ext cx="7290054" cy="149961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Data Set Description</a:t>
            </a:r>
            <a:endParaRPr lang="en-CA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</p:nvPr>
        </p:nvGraphicFramePr>
        <p:xfrm>
          <a:off x="554547" y="1783080"/>
          <a:ext cx="8320116" cy="4786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User.id</a:t>
                      </a:r>
                      <a:endParaRPr lang="en-CA" alt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String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Unique user ID, e.g. STU001 / LIB001 / ADM001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User.role</a:t>
                      </a:r>
                      <a:endParaRPr lang="en-CA" alt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Categorical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 / librarian / student — drives RBAC permissions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User.department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Student's academic department (e.g. Computer Science)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7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Book.isbn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Unique ISBN identifying the catalogue item</a:t>
                      </a:r>
                      <a:endParaRPr lang="en-CA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Book.genre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Categorical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Fiction, Science, Technology, History, etc.</a:t>
                      </a:r>
                      <a:endParaRPr lang="en-CA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Book.available_copies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Numeric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Copies currently available; decremented on issue, incremented on return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Transaction.issue_date / due_date</a:t>
                      </a: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Loan issue date and 14-day due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Transaction.status</a:t>
                      </a: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active / returned / overdue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Fine.days_overdue</a:t>
                      </a: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Numeric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Days elapsed past the due date at return time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Fine.amount</a:t>
                      </a: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Numeric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Computed in real time at Rs. 2/day overdue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Fine.status</a:t>
                      </a: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Categorical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paid / unpaid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17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3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Recommendation.match_score</a:t>
                      </a: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altLang="en-US" sz="1300"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Percentage match from the genre-affinity model</a:t>
                      </a:r>
                      <a:endParaRPr lang="en-CA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Project Flow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737360" cy="822960"/>
          </a:xfrm>
          <a:prstGeom prst="roundRect">
            <a:avLst/>
          </a:prstGeom>
          <a:solidFill>
            <a:srgbClr val="0B1E3D"/>
          </a:solidFill>
          <a:ln>
            <a:solidFill>
              <a:srgbClr val="0B1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Frontend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HTML5 / CSS3 / JS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(role-based pages)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28800"/>
            <a:ext cx="1737360" cy="822960"/>
          </a:xfrm>
          <a:prstGeom prst="roundRect">
            <a:avLst/>
          </a:prstGeom>
          <a:solidFill>
            <a:srgbClr val="1CA8B8"/>
          </a:solidFill>
          <a:ln>
            <a:solidFill>
              <a:srgbClr val="1C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B1E3D"/>
                </a:solidFill>
              </a:rPr>
              <a:t>api.js</a:t>
            </a:r>
          </a:p>
          <a:p>
            <a:pPr algn="ctr"/>
            <a:r>
              <a:rPr sz="1100" b="0">
                <a:solidFill>
                  <a:srgbClr val="0B1E3D"/>
                </a:solidFill>
              </a:rPr>
              <a:t>(Fetch + JWT</a:t>
            </a:r>
          </a:p>
          <a:p>
            <a:pPr algn="ctr"/>
            <a:r>
              <a:rPr sz="1100" b="0">
                <a:solidFill>
                  <a:srgbClr val="0B1E3D"/>
                </a:solidFill>
              </a:rPr>
              <a:t>Authorization header)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1920240" cy="822960"/>
          </a:xfrm>
          <a:prstGeom prst="roundRect">
            <a:avLst/>
          </a:prstGeom>
          <a:solidFill>
            <a:srgbClr val="0B1E3D"/>
          </a:solidFill>
          <a:ln>
            <a:solidFill>
              <a:srgbClr val="0B1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Flask Routes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(Blueprints: auth, books,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transactions, fines)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828800"/>
            <a:ext cx="1737360" cy="822960"/>
          </a:xfrm>
          <a:prstGeom prst="roundRect">
            <a:avLst/>
          </a:prstGeom>
          <a:solidFill>
            <a:srgbClr val="1CA8B8"/>
          </a:solidFill>
          <a:ln>
            <a:solidFill>
              <a:srgbClr val="1C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B1E3D"/>
                </a:solidFill>
              </a:rPr>
              <a:t>SQLAlchemy</a:t>
            </a:r>
          </a:p>
          <a:p>
            <a:pPr algn="ctr"/>
            <a:r>
              <a:rPr sz="1100" b="0">
                <a:solidFill>
                  <a:srgbClr val="0B1E3D"/>
                </a:solidFill>
              </a:rPr>
              <a:t>Models (ORM)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474720"/>
            <a:ext cx="1737360" cy="822960"/>
          </a:xfrm>
          <a:prstGeom prst="roundRect">
            <a:avLst/>
          </a:prstGeom>
          <a:solidFill>
            <a:srgbClr val="EEF1F5"/>
          </a:solidFill>
          <a:ln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SQLite (default) /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MySQL (DATABASE_URL)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474720"/>
            <a:ext cx="1920240" cy="1097280"/>
          </a:xfrm>
          <a:prstGeom prst="roundRect">
            <a:avLst/>
          </a:prstGeom>
          <a:solidFill>
            <a:srgbClr val="EEF1F5"/>
          </a:solidFill>
          <a:ln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NLP Search &amp;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Recommendation Engine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(TF-IDF-style scoring,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genre-affinity model)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24028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06240" y="224028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224028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2651760"/>
            <a:ext cx="0" cy="82296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2651760"/>
            <a:ext cx="0" cy="82296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" y="981075"/>
            <a:ext cx="7330440" cy="10797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>
                <a:latin typeface="Calibri" panose="020F0502020204030204"/>
                <a:ea typeface="+mj-lt"/>
                <a:cs typeface="+mj-lt"/>
              </a:rPr>
              <a:t>Admin Dashboard Overview</a:t>
            </a:r>
            <a:br>
              <a:rPr lang="en-US" sz="3600" baseline="30000" dirty="0">
                <a:latin typeface="Calibri" panose="020F0502020204030204"/>
                <a:ea typeface="+mj-lt"/>
                <a:cs typeface="+mj-lt"/>
              </a:rPr>
            </a:br>
            <a:endParaRPr lang="en-US" sz="3600" dirty="0">
              <a:latin typeface="Calibri" panose="020F0502020204030204"/>
              <a:ea typeface="+mj-lt"/>
              <a:cs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27584" y="4621374"/>
            <a:ext cx="78912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The Admin Dashboard gives a live overview of library operations: total books, books currently issued, books available, total members, and overdue count — all read from the live SQLite/MySQL database via the Flask API, not static or mocked figures.</a:t>
            </a:r>
          </a:p>
          <a:p>
            <a:pPr>
              <a:buFont typeface="Arial" panose="020B0604020202020204" pitchFamily="34" charset="0"/>
              <a:buChar char="•"/>
            </a:pPr>
            <a:r>
              <a:t>Chart.js visualizations (Monthly Book Issues, Books by Category) update automatically as new transactions are recorded.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74" y="1554480"/>
            <a:ext cx="5788851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251" y="764921"/>
            <a:ext cx="7290054" cy="149961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/>
                <a:cs typeface="Calibri" panose="020F0502020204030204"/>
              </a:rPr>
              <a:t>Manage Books (Catalog Management)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3474720" cy="5062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just"/>
            <a:r>
              <a:rPr lang="en-IN" sz="1300" b="1" dirty="0">
                <a:latin typeface="Calibri" panose="020F0502020204030204" pitchFamily="34" charset="0"/>
                <a:cs typeface="Calibri" panose="020F0502020204030204" pitchFamily="34" charset="0"/>
              </a:rPr>
              <a:t>Some observations: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Each catalogue entry stores Book ID, title, author, genre, total copies, and available copies — available copies auto-decrement on issue and increment on return.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sz="1300" dirty="0"/>
              <a:t>The search bar filters by title, author, or ISBN using the same token-matching logic as the student-facing search page.</a:t>
            </a:r>
            <a:endParaRPr lang="en-I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Admins can add, edit, or bulk-delete catalogue entries directly from this screen.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180890"/>
            <a:ext cx="4846320" cy="24047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196752"/>
            <a:ext cx="7992888" cy="504056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Manage Users &amp; Role-Based Accounts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1821" y="3931920"/>
            <a:ext cx="8384635" cy="237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635" lvl="0" indent="-285750" algn="just" fontAlgn="base">
              <a:lnSpc>
                <a:spcPct val="104000"/>
              </a:lnSpc>
              <a:spcBef>
                <a:spcPts val="0"/>
              </a:spcBef>
              <a:spcAft>
                <a:spcPts val="1060"/>
              </a:spcAft>
              <a:buClr>
                <a:srgbClr val="000000"/>
              </a:buClr>
              <a:buSzPts val="145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Manage Users view lists every account with its assigned role (admin / librarian / student) and department. Role is enforced server-side on every request via the JWT-based token_required and role_required decorators — a student token cannot reach admin-only routes regardless of what the frontend shows.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818777"/>
            <a:ext cx="4389120" cy="19402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41" y="692531"/>
            <a:ext cx="7290054" cy="149961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Fine Management (Automated Ledger)</a:t>
            </a:r>
            <a:endParaRPr lang="en-US" sz="3600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8096" y="1783080"/>
            <a:ext cx="7290055" cy="4320520"/>
          </a:xfrm>
        </p:spPr>
        <p:txBody>
          <a:bodyPr/>
          <a:lstStyle/>
          <a:p>
            <a:pPr marL="457200" lvl="0" indent="-457200" algn="just">
              <a:buNone/>
            </a:pPr>
            <a:r>
              <a:rPr lang="en-IN" sz="1500" dirty="0">
                <a:latin typeface="Calibri" panose="020F0502020204030204" pitchFamily="34" charset="0"/>
                <a:cs typeface="Calibri" panose="020F0502020204030204" pitchFamily="34" charset="0"/>
              </a:rPr>
              <a:t>Fines are computed automatically at Rs. 2/day overdue the moment a book is returned late — no overnight batch job is involved.</a:t>
            </a:r>
          </a:p>
          <a:p>
            <a:pPr marL="457200" lvl="0" indent="-457200" algn="just">
              <a:buNone/>
            </a:pPr>
            <a:r>
              <a:rPr lang="en-IN" sz="1500" dirty="0">
                <a:latin typeface="Calibri" panose="020F0502020204030204" pitchFamily="34" charset="0"/>
                <a:cs typeface="Calibri" panose="020F0502020204030204" pitchFamily="34" charset="0"/>
              </a:rPr>
              <a:t>Librarians can settle individual fines (Pay Fine) or clear all outstanding fines in bulk from this ledger.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90" y="3429000"/>
            <a:ext cx="7276618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94360"/>
            <a:ext cx="6675393" cy="1371600"/>
          </a:xfrm>
        </p:spPr>
        <p:txBody>
          <a:bodyPr>
            <a:normAutofit/>
          </a:bodyPr>
          <a:lstStyle/>
          <a:p>
            <a:r>
              <a:rPr lang="en-US" sz="2600" baseline="30000" dirty="0">
                <a:latin typeface="Calibri" panose="020F0502020204030204"/>
                <a:cs typeface="Calibri" panose="020F0502020204030204"/>
              </a:rPr>
              <a:t>Analytics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85786" y="1600200"/>
            <a:ext cx="7272365" cy="4737748"/>
          </a:xfrm>
        </p:spPr>
        <p:txBody>
          <a:bodyPr/>
          <a:lstStyle/>
          <a:p>
            <a:pPr marL="457200" lvl="0" indent="-457200">
              <a:buNone/>
            </a:pPr>
            <a:r>
              <a:rPr lang="en-IN" sz="1600" dirty="0">
                <a:latin typeface="Calibri" panose="020F0502020204030204" pitchFamily="34" charset="0"/>
                <a:cs typeface="Calibri" panose="020F0502020204030204" pitchFamily="34" charset="0"/>
              </a:rPr>
              <a:t>Monthly Book Issues (bar chart) and Books by Category (donut chart) are rendered with Chart.js, driven by live transaction and catalogue data from the Flask analytics endpoint.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35" y="2606040"/>
            <a:ext cx="7647529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94360"/>
            <a:ext cx="6400800" cy="1371600"/>
          </a:xfrm>
        </p:spPr>
        <p:txBody>
          <a:bodyPr>
            <a:normAutofit/>
          </a:bodyPr>
          <a:lstStyle/>
          <a:p>
            <a:r>
              <a:rPr lang="en-IN" sz="2400" dirty="0"/>
              <a:t>Transactions &amp; Top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1783080"/>
            <a:ext cx="7272365" cy="4880624"/>
          </a:xfrm>
        </p:spPr>
        <p:txBody>
          <a:bodyPr/>
          <a:lstStyle/>
          <a:p>
            <a:pPr marL="457200" lvl="0" indent="-457200">
              <a:buNone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 transaction log records every issue/return event with issue date, due date, and live status (Active / Returned) — this is the same table the fine engine reads from at return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79" y="2880360"/>
            <a:ext cx="71862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94360"/>
            <a:ext cx="6089920" cy="1371600"/>
          </a:xfrm>
        </p:spPr>
        <p:txBody>
          <a:bodyPr>
            <a:normAutofit/>
          </a:bodyPr>
          <a:lstStyle/>
          <a:p>
            <a:r>
              <a:rPr lang="en-IN" sz="2600" dirty="0"/>
              <a:t>Real-Time Fine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1500174"/>
            <a:ext cx="7272365" cy="4809186"/>
          </a:xfrm>
        </p:spPr>
        <p:txBody>
          <a:bodyPr/>
          <a:lstStyle/>
          <a:p>
            <a:pPr marL="457200" lvl="0" indent="-457200">
              <a:buNone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Unlike legacy batch systems, AI-Lib evaluates the overdue penalty the instant a book is returned, using a simple piecewise rule: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t>Fine(d) = 0 days,  if d &lt;= Due Date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t>Fine(d) = Rs. 2 x (d - Due Date),  if d &gt; Due Date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t>where d is the return date and the loan window is fixed at 14 days from issue.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t>This removes the overnight grace-period gap that lets legacy systems miss overdue fines when a book is checked in before the nightly batch job runs.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50882"/>
            <a:ext cx="8348386" cy="73761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/>
                <a:cs typeface="Calibri" panose="020F0502020204030204"/>
              </a:rPr>
              <a:t>RBAC Matrix</a:t>
            </a:r>
            <a:endParaRPr lang="en-US" sz="3200" baseline="30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803757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Librarian</a:t>
                      </a:r>
                    </a:p>
                  </a:txBody>
                  <a:tcPr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Manage user accounts &amp; 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92222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92222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Manage book catalogue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92222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Authorize issue &amp; return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92222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View personal checkouts &amp; fine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Pay / settle outstanding fines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 (own fines)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View personalized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View institution-wide analytics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7A3D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92222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8161622" cy="1499616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cs typeface="Calibri" panose="020F0502020204030204" pitchFamily="34" charset="0"/>
              </a:rPr>
              <a:t>Verification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RBAC enforcement was verified by requesting admin-only routes with a student token — access was correctly rejected server-side, not just hidden in the UI.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Fine computation was verified against manually overdue transactions — the Rs. 2/day amount matched the (return date - due date) difference exactly, confirming the real-time rule replaces batch reconciliation correctly.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Semantic search was verified with vague, non-literal queries (e.g. "coding practices") returning the correct catalogue item ("Clean Code") through description-field token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23</a:t>
            </a:fld>
            <a:endParaRPr lang="en-US" dirty="0"/>
          </a:p>
        </p:txBody>
      </p:sp>
      <p:sp>
        <p:nvSpPr>
          <p:cNvPr id="68609" name="Rectangle 1"/>
          <p:cNvSpPr>
            <a:spLocks noChangeArrowheads="1"/>
          </p:cNvSpPr>
          <p:nvPr/>
        </p:nvSpPr>
        <p:spPr bwMode="auto">
          <a:xfrm>
            <a:off x="1142976" y="1857364"/>
            <a:ext cx="750099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09600" y="980440"/>
            <a:ext cx="7607300" cy="949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alibri" panose="020F0502020204030204"/>
                <a:cs typeface="Calibri" panose="020F0502020204030204"/>
              </a:rPr>
              <a:t>Conclusion &amp; Future Work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1772816"/>
            <a:ext cx="8064896" cy="4536504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AI-Lib delivers a working role-based library platform with a live Flask/SQLAlchemy backend, NLP-based semantic search, genre-affinity recommendations, and real-time fine computation — replacing the manual, batch-driven workflows of legacy OPAC systems.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Role-based access control and fine automation were verified directly against the running system rather than assumed from the design.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t> Future Work:</a:t>
            </a:r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t>   Integrate a camera-based barcode/QR reader on the Issue &amp; Return screen for mobile check-ins.</a:t>
            </a:r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t>   Add an LLM-based query agent so students can search using complex natural-language requests (e.g. "introductory books on deep learning with practical exercises").</a:t>
            </a:r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t>   Extend analytics with predictive demand forecasting for high-turnover genres.</a:t>
            </a:r>
            <a:endParaRPr lang="en-US" dirty="0">
              <a:latin typeface="Calibri" panose="020F0502020204030204" pitchFamily="34" charset="0"/>
              <a:ea typeface="+mn-lt"/>
              <a:cs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502" y="845840"/>
            <a:ext cx="7681914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effectLst/>
                <a:latin typeface="Calibri" panose="020F0502020204030204"/>
                <a:cs typeface="Calibri" panose="020F0502020204030204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755577" y="1845310"/>
            <a:ext cx="7704856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1300" dirty="0">
                <a:latin typeface="Calibri" panose="020F0502020204030204"/>
                <a:ea typeface="+mn-lt"/>
                <a:cs typeface="+mn-lt"/>
              </a:rPr>
              <a:t>K. Li, R. Chen, and M. Tan, "A Hybrid Semantic Indexing Model for Catalog Classification and User-Tag Retrieval," Journal of Library and Information Science Research, 2022.</a:t>
            </a:r>
          </a:p>
          <a:p>
            <a:pPr marL="228600" indent="-228600" algn="just">
              <a:buAutoNum type="arabicPeriod"/>
            </a:pPr>
            <a:r>
              <a:rPr lang="en-US" sz="1300" dirty="0" err="1">
                <a:latin typeface="Calibri" panose="020F0502020204030204"/>
                <a:ea typeface="+mn-lt"/>
                <a:cs typeface="+mn-lt"/>
              </a:rPr>
              <a:t>A. Kharode, S. Deshmukh, and P. Verma, "Collaborative Filtering Recommendation Networks from Historical Student Checkout Data," International Research Journal of Modernization in Engineering Technology and Science, 2024.</a:t>
            </a:r>
          </a:p>
          <a:p>
            <a:pPr marL="228600" indent="-228600" algn="just">
              <a:buAutoNum type="arabicPeriod"/>
            </a:pPr>
            <a:r>
              <a:rPr lang="en-US" sz="1300" dirty="0">
                <a:latin typeface="Calibri" panose="020F0502020204030204"/>
                <a:ea typeface="+mn-lt"/>
                <a:cs typeface="+mn-lt"/>
              </a:rPr>
              <a:t>Atika, N. Sharma, and R. Iyer, "Decoupled RESTful API Transaction Loops for High-Concurrency Library Inventory Systems," Journal of Web Engineering and Software Architecture, 2025.</a:t>
            </a:r>
          </a:p>
          <a:p>
            <a:pPr marL="228600" indent="-228600" algn="just">
              <a:buAutoNum type="arabicPeriod"/>
            </a:pPr>
            <a:r>
              <a:rPr lang="en-US" sz="1300" dirty="0">
                <a:latin typeface="Calibri" panose="020F0502020204030204"/>
                <a:ea typeface="+mn-lt"/>
                <a:cs typeface="+mn-lt"/>
              </a:rPr>
              <a:t>L. Fernandes, T. Souza, and A. Costa, "TF-IDF Weighted Retrieval Layers for Legacy OPAC Modernization," Journal of Information Retrieval Systems, 2023.</a:t>
            </a:r>
          </a:p>
          <a:p>
            <a:pPr marL="228600" indent="-228600" algn="just">
              <a:buAutoNum type="arabicPeriod"/>
            </a:pPr>
            <a:r>
              <a:rPr lang="en-US" sz="1300" dirty="0">
                <a:latin typeface="Calibri" panose="020F0502020204030204"/>
                <a:ea typeface="+mn-lt"/>
                <a:cs typeface="+mn-lt"/>
              </a:rPr>
              <a:t>H. Wu, J. Zhang, and Y. Feng, "Real-Time versus Batch Reconciliation for Automated Fine and Penalty Systems," Journal of Financial Software Engineering, 2025.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251" y="692531"/>
            <a:ext cx="7290054" cy="1499616"/>
          </a:xfrm>
        </p:spPr>
        <p:txBody>
          <a:bodyPr/>
          <a:lstStyle/>
          <a:p>
            <a:r>
              <a:rPr lang="en-US" sz="3600" dirty="0">
                <a:latin typeface="Calibri" panose="020F0502020204030204"/>
                <a:ea typeface="+mj-lt"/>
                <a:cs typeface="Calibri" panose="020F0502020204030204"/>
              </a:rPr>
              <a:t>Web References</a:t>
            </a:r>
            <a:endParaRPr lang="en-US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en-US" dirty="0">
                <a:latin typeface="Calibri" panose="020F0502020204030204"/>
                <a:ea typeface="+mn-lt"/>
                <a:cs typeface="+mn-lt"/>
              </a:rPr>
              <a:t>1.  https://flask.palletsprojects.com/</a:t>
            </a:r>
            <a:endParaRPr lang="en-US">
              <a:latin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alibri" panose="020F0502020204030204"/>
                <a:ea typeface="+mn-lt"/>
                <a:cs typeface="+mn-lt"/>
              </a:rPr>
              <a:t>2.  https://docs.sqlalchemy.org/</a:t>
            </a:r>
            <a:endParaRPr lang="en-US">
              <a:latin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alibri" panose="020F0502020204030204"/>
                <a:ea typeface="+mn-lt"/>
                <a:cs typeface="+mn-lt"/>
              </a:rPr>
              <a:t>3.  https://www.chartjs.org/</a:t>
            </a:r>
            <a:endParaRPr lang="en-US">
              <a:latin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alibri" panose="020F0502020204030204"/>
                <a:ea typeface="+mn-lt"/>
                <a:cs typeface="+mn-lt"/>
              </a:rPr>
              <a:t>4.  https://jwt.io/</a:t>
            </a:r>
            <a:endParaRPr lang="en-US">
              <a:latin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alibri" panose="020F0502020204030204"/>
                <a:ea typeface="+mn-lt"/>
                <a:cs typeface="+mn-lt"/>
              </a:rPr>
              <a:t>5.  https://developer.mozilla.org/en-US/docs/Web/JavaScript</a:t>
            </a:r>
            <a:endParaRPr lang="en-US">
              <a:latin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alibri" panose="020F0502020204030204"/>
                <a:ea typeface="+mn-lt"/>
                <a:cs typeface="+mn-lt"/>
              </a:rPr>
              <a:t>6.  https://www.sqlite.org/docs.html</a:t>
            </a:r>
            <a:endParaRPr lang="en-US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4" y="1052736"/>
            <a:ext cx="6313512" cy="4585712"/>
          </a:xfrm>
        </p:spPr>
        <p:txBody>
          <a:bodyPr anchor="ctr"/>
          <a:lstStyle/>
          <a:p>
            <a:pPr algn="ctr">
              <a:buNone/>
            </a:pPr>
            <a:r>
              <a:rPr lang="en-US" sz="96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6D8818E-4975-47DF-8CD0-6344EFD914C9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</TotalTime>
  <Words>2245</Words>
  <Application>Microsoft Office PowerPoint</Application>
  <PresentationFormat>On-screen Show (4:3)</PresentationFormat>
  <Paragraphs>281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Gabriola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OUTLINE</vt:lpstr>
      <vt:lpstr>Introduction</vt:lpstr>
      <vt:lpstr>PowerPoint Presentation</vt:lpstr>
      <vt:lpstr>Literature Review </vt:lpstr>
      <vt:lpstr>Research Gap</vt:lpstr>
      <vt:lpstr>Problem Statement</vt:lpstr>
      <vt:lpstr>TOOLS AND TECHNOLOGY</vt:lpstr>
      <vt:lpstr>Core Algorithms: Search &amp; Recommendation</vt:lpstr>
      <vt:lpstr>Worked Example: Semantic Search Scoring</vt:lpstr>
      <vt:lpstr>PowerPoint Presentation</vt:lpstr>
      <vt:lpstr>Data Set Description</vt:lpstr>
      <vt:lpstr>Project Flow Chart</vt:lpstr>
      <vt:lpstr>Admin Dashboard Overview </vt:lpstr>
      <vt:lpstr>Manage Books (Catalog Management)</vt:lpstr>
      <vt:lpstr>PowerPoint Presentation</vt:lpstr>
      <vt:lpstr>Fine Management (Automated Ledger)</vt:lpstr>
      <vt:lpstr>Analytics Dashboard</vt:lpstr>
      <vt:lpstr>Transactions &amp; Top Books</vt:lpstr>
      <vt:lpstr>Real-Time Fine Computation</vt:lpstr>
      <vt:lpstr>RBAC Matrix</vt:lpstr>
      <vt:lpstr>Verification &amp; Observations</vt:lpstr>
      <vt:lpstr>PowerPoint Presentation</vt:lpstr>
      <vt:lpstr>References</vt:lpstr>
      <vt:lpstr>Web References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 BIOMETRIC SECURITY SYSTEMS</dc:title>
  <dc:creator>charmy</dc:creator>
  <cp:lastModifiedBy>Priyanshu Solanki</cp:lastModifiedBy>
  <cp:revision>724</cp:revision>
  <dcterms:created xsi:type="dcterms:W3CDTF">2005-10-02T14:03:00Z</dcterms:created>
  <dcterms:modified xsi:type="dcterms:W3CDTF">2026-08-30T18:38:57Z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1033-11.2.0.11486</vt:lpwstr>
  </property>
  <property fmtid="{D5CDD505-2E9C-101B-9397-08002B2CF9AE}" pid="3" name="ICV">
    <vt:lpwstr>C10C3B732A5D4AB48367BEBFD5F0212D</vt:lpwstr>
  </property>
</Properties>
</file>